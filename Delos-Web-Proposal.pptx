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keen-exciting-archimedes/mnt/Delos/public/brand/delos-seal.pn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tretch>
            <a:fillRect/>
          </a:stretch>
        </p:blipFill>
        <p:spPr>
          <a:xfrm>
            <a:off x="7162495" y="-914400"/>
            <a:ext cx="6400800" cy="6400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6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 /  APRIL 2026</a:t>
            </a:r>
            <a:endParaRPr lang="en-US" sz="1000" dirty="0"/>
          </a:p>
        </p:txBody>
      </p:sp>
      <p:pic>
        <p:nvPicPr>
          <p:cNvPr id="4" name="Image 1" descr="/sessions/keen-exciting-archimedes/mnt/Delos/public/brand/delos-wordmark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0080" y="1828800"/>
            <a:ext cx="5120640" cy="18288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40080" y="3840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Web Presence That Earns Its Place at the Table.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640080" y="4526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website, brand integration, and SEO architecture for Morningside's premier dining and lounge destination.</a:t>
            </a:r>
            <a:endParaRPr lang="en-US" sz="1400" dirty="0"/>
          </a:p>
        </p:txBody>
      </p:sp>
      <p:sp>
        <p:nvSpPr>
          <p:cNvPr id="7" name="Shape 3"/>
          <p:cNvSpPr/>
          <p:nvPr/>
        </p:nvSpPr>
        <p:spPr>
          <a:xfrm>
            <a:off x="640080" y="5577840"/>
            <a:ext cx="2743200" cy="0"/>
          </a:xfrm>
          <a:prstGeom prst="line">
            <a:avLst/>
          </a:prstGeom>
          <a:noFill/>
          <a:ln w="12700">
            <a:solidFill>
              <a:srgbClr val="C9A84C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40080" y="5669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640080" y="594360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Delos Lounge &amp; Dining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Morningside, Durban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6675120" y="5577840"/>
            <a:ext cx="2743200" cy="0"/>
          </a:xfrm>
          <a:prstGeom prst="line">
            <a:avLst/>
          </a:prstGeom>
          <a:noFill/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675120" y="5669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6675120" y="594360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Sibusiso Mashita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web &amp; brand engineer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6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have a brand. Now you need the room to show it.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2926080"/>
            <a:ext cx="3520440" cy="3108960"/>
          </a:xfrm>
          <a:prstGeom prst="rect">
            <a:avLst/>
          </a:prstGeom>
          <a:solidFill>
            <a:srgbClr val="1A1A1A"/>
          </a:solidFill>
          <a:ln w="9525">
            <a:solidFill>
              <a:srgbClr val="C9A84C">
                <a:alpha val="40000"/>
              </a:srgbClr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324612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914400" y="43434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WEB PRESENCE TODAY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475488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B8B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'Delos Lounge Durban' and the brand lives on Facebook, TikTok, Mr D and Uber Eats. All rented surfaces.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34840" y="2926080"/>
            <a:ext cx="3520440" cy="3108960"/>
          </a:xfrm>
          <a:prstGeom prst="rect">
            <a:avLst/>
          </a:prstGeom>
          <a:solidFill>
            <a:srgbClr val="1A1A1A"/>
          </a:solidFill>
          <a:ln w="9525">
            <a:solidFill>
              <a:srgbClr val="C9A84C">
                <a:alpha val="40000"/>
              </a:srgbClr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9160" y="324612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30%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4709160" y="43434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ON EVERY DELIVERY ORDER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09160" y="475488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B8B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 Eats and Mr D take a meaningful slice of every plate. A direct order/booking channel pays itself back fast.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0" y="2926080"/>
            <a:ext cx="3520440" cy="3108960"/>
          </a:xfrm>
          <a:prstGeom prst="rect">
            <a:avLst/>
          </a:prstGeom>
          <a:solidFill>
            <a:srgbClr val="1A1A1A"/>
          </a:solidFill>
          <a:ln w="9525">
            <a:solidFill>
              <a:srgbClr val="C9A84C">
                <a:alpha val="40000"/>
              </a:srgbClr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503920" y="324612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1st</a:t>
            </a:r>
            <a:endParaRPr lang="en-US" sz="5600" dirty="0"/>
          </a:p>
        </p:txBody>
      </p:sp>
      <p:sp>
        <p:nvSpPr>
          <p:cNvPr id="14" name="Text 12"/>
          <p:cNvSpPr/>
          <p:nvPr/>
        </p:nvSpPr>
        <p:spPr>
          <a:xfrm>
            <a:off x="8503920" y="43434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OF GOOGLE FOR PREMIUM DINING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503920" y="475488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B8B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Earned through suburb + dish landing pages, structured restaurant data, and clean technical fundamentals.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6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DELOS  /  WEB PROPOSAL  /  APRIL 2026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6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BUILT — READY TO DEMO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premium site, designed to your brand.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2606040" cy="3931920"/>
          </a:xfrm>
          <a:prstGeom prst="rect">
            <a:avLst/>
          </a:prstGeom>
          <a:solidFill>
            <a:srgbClr val="1A1A1A"/>
          </a:solidFill>
          <a:ln w="9525">
            <a:solidFill>
              <a:srgbClr val="C9A84C">
                <a:alpha val="30000"/>
              </a:srgbClr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60604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324612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Brand Integration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411480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B8B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Wordmark in nav, footer &amp; hero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B8B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Lion icon as favicon family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B8B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Greek seal as decorative watermark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47288" y="2331720"/>
            <a:ext cx="2606040" cy="3931920"/>
          </a:xfrm>
          <a:prstGeom prst="rect">
            <a:avLst/>
          </a:prstGeom>
          <a:solidFill>
            <a:srgbClr val="1A1A1A"/>
          </a:solidFill>
          <a:ln w="9525">
            <a:solidFill>
              <a:srgbClr val="C9A84C">
                <a:alpha val="30000"/>
              </a:srgbClr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721608" y="260604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21608" y="324612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 Pages of Content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721608" y="411480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B8B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Home, Menu, Shisanyama, Events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B8B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Functions, Gallery, About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B8B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SEO landing pages for Durban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54496" y="2331720"/>
            <a:ext cx="2606040" cy="3931920"/>
          </a:xfrm>
          <a:prstGeom prst="rect">
            <a:avLst/>
          </a:prstGeom>
          <a:solidFill>
            <a:srgbClr val="1A1A1A"/>
          </a:solidFill>
          <a:ln w="9525">
            <a:solidFill>
              <a:srgbClr val="C9A84C">
                <a:alpha val="30000"/>
              </a:srgbClr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28816" y="260604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528816" y="324612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for Mobile First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528816" y="411480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B8B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Durban diners search on phone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B8B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lion logo on mobile nav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B8B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Tap-to-call &amp; WhatsApp baked in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061704" y="2331720"/>
            <a:ext cx="2606040" cy="3931920"/>
          </a:xfrm>
          <a:prstGeom prst="rect">
            <a:avLst/>
          </a:prstGeom>
          <a:solidFill>
            <a:srgbClr val="1A1A1A"/>
          </a:solidFill>
          <a:ln w="9525">
            <a:solidFill>
              <a:srgbClr val="C9A84C">
                <a:alpha val="30000"/>
              </a:srgbClr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336024" y="260604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9336024" y="324612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 SEO Foundation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336024" y="411480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B8B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schema markup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B8B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Sitemap, robots, OpenGraph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B8B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Suburb + dish landing pages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6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DELOS  /  WEB PROPOSAL  /  APRIL 2026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keen-exciting-archimedes/mnt/Delos/public/brand/delos-seal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3352648" y="457200"/>
            <a:ext cx="5486400" cy="5486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377440"/>
            <a:ext cx="112772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open the site.</a:t>
            </a:r>
            <a:endParaRPr lang="en-US" sz="5600" dirty="0"/>
          </a:p>
        </p:txBody>
      </p:sp>
      <p:sp>
        <p:nvSpPr>
          <p:cNvPr id="4" name="Text 1"/>
          <p:cNvSpPr/>
          <p:nvPr/>
        </p:nvSpPr>
        <p:spPr>
          <a:xfrm>
            <a:off x="457200" y="338328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spc="6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deloslounge.local  ←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371600" y="4206240"/>
            <a:ext cx="94484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8B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Walking through: home, menu, shisanyama, events, private functions, gallery, mobile view.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6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DELOS  /  WEB PROPOSAL  /  APRIL 2026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6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JUST SAW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Delos brand, online.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2194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2606040"/>
            <a:ext cx="53035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menu with prices, signatures and bestsellers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Open-flame shisanyama page with platter pricing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&amp; private functions enquiry flow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booking deep links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links to Uber Eats and Mr 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Click-to-call phone CTA on every page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directions integrated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0" y="2194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0" y="2606040"/>
            <a:ext cx="51206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Charcoal + gold + cream, your brand colours applied consistently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Serif headlines, restrained gold accents, no clutter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sets the tone before a single word is read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reads like a premium menu, not a website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fast on Durban mobile networks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6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DELOS  /  WEB PROPOSAL  /  APRIL 2026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6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Everything in the demo. Nothing missing.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10911535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0C0C0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1488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FC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website design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846320" y="214884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pages, responsive across mobile / tablet / desktop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26517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FC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integration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46320" y="265176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Wordmark, lion icon family, decorative seal across the site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3108960"/>
            <a:ext cx="10911535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0C0C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1546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FC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layout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315468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copy formatted, menu structured, events listed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36576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FC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foundation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365760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schema, sitemap, robots, OpenGraph, suburb pages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4114800"/>
            <a:ext cx="10911535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0C0C0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41605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FC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&amp; ordering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0" y="416052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deep links + Uber Eats + Mr D direct links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68680" y="46634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FC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Favicon / app icon set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46320" y="466344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tab + iOS home-screen + Android Chrome icons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5120640"/>
            <a:ext cx="10911535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0C0C0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51663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FC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setup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46320" y="516636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deploy on Vercel with deloslounge.co.za domain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68680" y="56692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FC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support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46320" y="566928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days of post-launch fixes and small tweaks included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6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DELOS  /  WEB PROPOSAL  /  APRIL 2026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keen-exciting-archimedes/mnt/Delos/public/brand/delos-seal.png">    </p:cNvPr>
          <p:cNvPicPr>
            <a:picLocks noChangeAspect="1"/>
          </p:cNvPicPr>
          <p:nvPr/>
        </p:nvPicPr>
        <p:blipFill>
          <a:blip r:embed="rId1">
            <a:alphaModFix amt="10000"/>
          </a:blip>
          <a:stretch>
            <a:fillRect/>
          </a:stretch>
        </p:blipFill>
        <p:spPr>
          <a:xfrm>
            <a:off x="8076895" y="1371600"/>
            <a:ext cx="3657600" cy="3657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6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640080" y="8686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Straightforward pricing. No surprises.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640080" y="1828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5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BUILD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40080" y="214884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 38,000</a:t>
            </a:r>
            <a:endParaRPr lang="en-US" sz="9600" dirty="0"/>
          </a:p>
        </p:txBody>
      </p:sp>
      <p:sp>
        <p:nvSpPr>
          <p:cNvPr id="7" name="Text 4"/>
          <p:cNvSpPr/>
          <p:nvPr/>
        </p:nvSpPr>
        <p:spPr>
          <a:xfrm>
            <a:off x="640080" y="37033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B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design, build, brand integration, content layout, SEO foundation, launch.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4434840"/>
            <a:ext cx="10911535" cy="0"/>
          </a:xfrm>
          <a:prstGeom prst="line">
            <a:avLst/>
          </a:prstGeom>
          <a:noFill/>
          <a:ln w="9525">
            <a:solidFill>
              <a:srgbClr val="C9A84C">
                <a:alpha val="3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4617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5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 /  MAINTENANCE &amp; HOSTING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0" y="493776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 1,200 / month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640080" y="56235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B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Hosting, security updates, uptime monitoring, and up to 2 hours of small content edits per month.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6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DELOS  /  WEB PROPOSAL  /  APRIL 2026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6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TERMS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milestones. No upfront surprises.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520440" cy="3657600"/>
          </a:xfrm>
          <a:prstGeom prst="rect">
            <a:avLst/>
          </a:prstGeom>
          <a:solidFill>
            <a:srgbClr val="1A1A1A"/>
          </a:solidFill>
          <a:ln w="9525">
            <a:solidFill>
              <a:srgbClr val="C9A84C">
                <a:alpha val="40000"/>
              </a:srgbClr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65176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50%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914400" y="37947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 19,000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43434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SIGNATURE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475488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B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Locks in the project start date and reserves the calendar.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34840" y="2377440"/>
            <a:ext cx="3520440" cy="3657600"/>
          </a:xfrm>
          <a:prstGeom prst="rect">
            <a:avLst/>
          </a:prstGeom>
          <a:solidFill>
            <a:srgbClr val="1A1A1A"/>
          </a:solidFill>
          <a:ln w="9525">
            <a:solidFill>
              <a:srgbClr val="C9A84C">
                <a:alpha val="40000"/>
              </a:srgbClr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09160" y="265176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30%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4709160" y="37947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 11,400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09160" y="43434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STAGING REVIEW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09160" y="475488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B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site is live on a private staging URL for your sign-off.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0" y="2377440"/>
            <a:ext cx="3520440" cy="3657600"/>
          </a:xfrm>
          <a:prstGeom prst="rect">
            <a:avLst/>
          </a:prstGeom>
          <a:solidFill>
            <a:srgbClr val="1A1A1A"/>
          </a:solidFill>
          <a:ln w="9525">
            <a:solidFill>
              <a:srgbClr val="C9A84C">
                <a:alpha val="40000"/>
              </a:srgbClr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503920" y="265176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20%</a:t>
            </a:r>
            <a:endParaRPr lang="en-US" sz="5600" dirty="0"/>
          </a:p>
        </p:txBody>
      </p:sp>
      <p:sp>
        <p:nvSpPr>
          <p:cNvPr id="16" name="Text 14"/>
          <p:cNvSpPr/>
          <p:nvPr/>
        </p:nvSpPr>
        <p:spPr>
          <a:xfrm>
            <a:off x="8503920" y="37947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 7,600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503920" y="43434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LAUNCH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503920" y="475488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B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deloslounge.co.za is live and indexed by Google.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6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DELOS  /  WEB PROPOSAL  /  APRIL 2026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6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in 2–3 weeks.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14400" y="4114800"/>
            <a:ext cx="10362895" cy="0"/>
          </a:xfrm>
          <a:prstGeom prst="line">
            <a:avLst/>
          </a:prstGeom>
          <a:noFill/>
          <a:ln w="12700">
            <a:solidFill>
              <a:srgbClr val="C9A84C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20240" y="3950208"/>
            <a:ext cx="329184" cy="329184"/>
          </a:xfrm>
          <a:prstGeom prst="ellipse">
            <a:avLst/>
          </a:prstGeom>
          <a:solidFill>
            <a:srgbClr val="C9A84C"/>
          </a:solidFill>
          <a:ln w="12700">
            <a:solidFill>
              <a:srgbClr val="0C0C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3774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5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Kickoff &amp; content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4572000"/>
            <a:ext cx="2606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B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scope, finalise menu copy, agree on photography placeholder strategy.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27448" y="3950208"/>
            <a:ext cx="329184" cy="329184"/>
          </a:xfrm>
          <a:prstGeom prst="ellipse">
            <a:avLst/>
          </a:prstGeom>
          <a:solidFill>
            <a:srgbClr val="C9A84C"/>
          </a:solidFill>
          <a:ln w="12700">
            <a:solidFill>
              <a:srgbClr val="0C0C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38728" y="23774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5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538728" y="274320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Staging build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538728" y="4572000"/>
            <a:ext cx="2606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B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20 pages live on a private deloslounge-staging URL for review.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534656" y="3950208"/>
            <a:ext cx="329184" cy="329184"/>
          </a:xfrm>
          <a:prstGeom prst="ellipse">
            <a:avLst/>
          </a:prstGeom>
          <a:solidFill>
            <a:srgbClr val="C9A84C"/>
          </a:solidFill>
          <a:ln w="12700">
            <a:solidFill>
              <a:srgbClr val="0C0C0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45936" y="23774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5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345936" y="274320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Launch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345936" y="4572000"/>
            <a:ext cx="2606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B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Domain, DNS, deploy, Google Search Console submission, social handover.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0341864" y="3950208"/>
            <a:ext cx="329184" cy="329184"/>
          </a:xfrm>
          <a:prstGeom prst="ellipse">
            <a:avLst/>
          </a:prstGeom>
          <a:solidFill>
            <a:srgbClr val="C9A84C"/>
          </a:solidFill>
          <a:ln w="12700">
            <a:solidFill>
              <a:srgbClr val="0C0C0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53144" y="23774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5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30–60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153144" y="274320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Aftercare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153144" y="4572000"/>
            <a:ext cx="2606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B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Post-launch tweaks included free. SEO settles, indexing completes.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6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DELOS  /  WEB PROPOSAL  /  APRIL 2026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keen-exciting-archimedes/mnt/Delos/public/brand/delos-wordmark.png">    </p:cNvPr>
          <p:cNvPicPr>
            <a:picLocks noChangeAspect="1"/>
          </p:cNvPicPr>
          <p:nvPr/>
        </p:nvPicPr>
        <p:blipFill>
          <a:blip r:embed="rId1">
            <a:alphaModFix amt="25000"/>
          </a:blip>
          <a:stretch>
            <a:fillRect/>
          </a:stretch>
        </p:blipFill>
        <p:spPr>
          <a:xfrm>
            <a:off x="7162495" y="4846320"/>
            <a:ext cx="4114800" cy="1463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6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640080" y="9144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Ready when you are.</a:t>
            </a:r>
            <a:endParaRPr lang="en-US" sz="6000" dirty="0"/>
          </a:p>
        </p:txBody>
      </p:sp>
      <p:sp>
        <p:nvSpPr>
          <p:cNvPr id="5" name="Text 2"/>
          <p:cNvSpPr/>
          <p:nvPr/>
        </p:nvSpPr>
        <p:spPr>
          <a:xfrm>
            <a:off x="640080" y="246888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B8B0A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today's demo lands, we can have the contract signed this week and Delos live online before the next Friday Mogodu Buffet.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40080" y="39319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280160" y="39319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scope on slide 6. Anything to add or remove.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44348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280160" y="44348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the proposal &amp; pay the 50% deposit (R 19,000)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40080" y="4937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280160" y="49377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over current menu prices, hours, and any final brand assets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40080" y="54406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280160" y="54406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kick off Monday and you're live in roughly two weeks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6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DELOS  /  WEB PROPOSAL  /  APRIL 2026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2026-04-28T21:14:44Z</dcterms:created>
  <dcterms:modified xsi:type="dcterms:W3CDTF">2026-04-28T21:14:44Z</dcterms:modified>
</cp:coreProperties>
</file>